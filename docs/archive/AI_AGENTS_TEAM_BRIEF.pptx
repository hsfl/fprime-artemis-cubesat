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 snapToGrid="0">
      <p:cViewPr varScale="1">
        <p:scale>
          <a:sx n="138" d="100"/>
          <a:sy n="138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9D3E4B-93D0-45F5-A710-693E96E45C0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285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C6728-DE2E-4EFB-B007-8E6E6E965C9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TEAM BRIEF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17447-0B33-4422-B734-C3D8B5008EBD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9334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How to use AI agents without wasting cycles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BF2B6-6D4F-4907-9D60-2E7A1AAC0827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7524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Use Codex, Claude Code, REPLs, AGENTS.md, and SKILLS.md as an engineering system: read the truth, change the repo, prove the result.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FDEB9-AEED-4303-8F76-6A3EEE56E58D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2724150" cy="12763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36988-45DA-43AE-B460-F41AFE1BCC56}"/>
              </a:ext>
            </a:extLst>
          </p:cNvPr>
          <p:cNvSpPr>
            <a:spLocks noGrp="1"/>
          </p:cNvSpPr>
          <p:nvPr/>
        </p:nvSpPr>
        <p:spPr>
          <a:xfrm>
            <a:off x="8896350" y="42672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Repo proof, not AI hype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D2015A-0549-4C4E-97B4-A767B1BE65B0}"/>
              </a:ext>
            </a:extLst>
          </p:cNvPr>
          <p:cNvSpPr>
            <a:spLocks noGrp="1"/>
          </p:cNvSpPr>
          <p:nvPr/>
        </p:nvSpPr>
        <p:spPr>
          <a:xfrm>
            <a:off x="8896350" y="4914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 practical brief for new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FB843-8571-4B3D-8DAC-FD47E3F15076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6E7483-4F34-44EA-A8A9-CE1A4F541CDC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E7E5C-4E09-4F75-90FB-229339DEDBCA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514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E956B9D-BBD2-4A5D-8AC5-A77F5346E45F}"/>
              </a:ext>
            </a:extLst>
          </p:cNvPr>
          <p:cNvSpPr>
            <a:spLocks noGrp="1"/>
          </p:cNvSpPr>
          <p:nvPr/>
        </p:nvSpPr>
        <p:spPr>
          <a:xfrm>
            <a:off x="400049" y="400050"/>
            <a:ext cx="10351078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shift is that agents can now work inside the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3C2E0-93C0-43E3-80B3-90E005400D98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21DCB-2B84-438A-84A4-B530A5CED18D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A few months ago, AI mostly explained code. Now it can inspect a repo, edit files, run builds, read logs, package releases, and leave a handoff.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CF85E-9EE8-43DF-9815-7F1D85D5EEA4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3519C-94C0-42AC-A889-D80A2745F3F5}"/>
              </a:ext>
            </a:extLst>
          </p:cNvPr>
          <p:cNvSpPr>
            <a:spLocks noGrp="1"/>
          </p:cNvSpPr>
          <p:nvPr/>
        </p:nvSpPr>
        <p:spPr>
          <a:xfrm>
            <a:off x="6781800" y="1790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Local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693D9-82C3-495F-BE7A-A9DA244E11ED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agent sees the real checkout, docs, scripts, and branch state.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E43C72-226C-4EB7-8A93-311858B8FDFC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98DA6-BC5E-41B9-9991-D878A810D592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Tool 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39DD8-8948-45DB-8D3D-A98D0A68C3BD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It can run commands, inspect artifacts, and verify outputs instead of guessing.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E91831-0E33-4B11-AF67-128F0932DA31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73B69-22C2-4E7B-B98B-15D3AD48DED8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Memory and instructions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02469-DF02-41D4-B6BC-D2843C2DD017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Project rules persist through AGENTS.md, skills, runbooks, and handoff notes.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6424FB-9884-4A77-9942-0C789FBC3A59}"/>
              </a:ext>
            </a:extLst>
          </p:cNvPr>
          <p:cNvSpPr>
            <a:spLocks noGrp="1"/>
          </p:cNvSpPr>
          <p:nvPr/>
        </p:nvSpPr>
        <p:spPr>
          <a:xfrm>
            <a:off x="6096000" y="4781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FAD4D0-1129-4858-899F-5F908AE570F9}"/>
              </a:ext>
            </a:extLst>
          </p:cNvPr>
          <p:cNvSpPr>
            <a:spLocks noGrp="1"/>
          </p:cNvSpPr>
          <p:nvPr/>
        </p:nvSpPr>
        <p:spPr>
          <a:xfrm>
            <a:off x="6781800" y="4762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Proof loops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229CC8-7438-4CA0-B8EB-BEB6B6F97A55}"/>
              </a:ext>
            </a:extLst>
          </p:cNvPr>
          <p:cNvSpPr>
            <a:spLocks noGrp="1"/>
          </p:cNvSpPr>
          <p:nvPr/>
        </p:nvSpPr>
        <p:spPr>
          <a:xfrm>
            <a:off x="6781800" y="5181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Claims are useful only after validation: build, test, GDS, receiver, viewer, hash, or hardware evidence.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9D3A1D-C402-4357-9A9A-4AF71C041885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Grounded in this repo's Neutron 2 MVP workflow and archived HIL/release notes.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B88A4B-A6DC-4402-8D22-529A747E9652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29C710-78CE-49B5-8F7B-EA6F0EB4C313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A49FD9-C832-487F-98E1-C6358DD7E3B0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925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4C3BC38-9176-4030-A092-C35B95135BD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Think of an AI agent as a fast junior engineer with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F8EB0-F72D-486E-BD62-F207E2F9D162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The agent is valuable because it can do the tedious loop quickly. It is dangerous when treated like an authority.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6D369-831F-44B4-B144-B3FD36A60E52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D6480-3704-404C-BA64-7511D1B829BC}"/>
              </a:ext>
            </a:extLst>
          </p:cNvPr>
          <p:cNvSpPr>
            <a:spLocks noGrp="1"/>
          </p:cNvSpPr>
          <p:nvPr/>
        </p:nvSpPr>
        <p:spPr>
          <a:xfrm>
            <a:off x="6781800" y="1790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Ask it to inspect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0D47C-BB69-4915-B9EA-BFDC3C8E45FC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Start from the repo, not from memory or generic F Prime advice.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695F1-B495-46B7-BD71-864359034BB2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19FFDA-3B4D-482D-AECF-335E56585377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Ask it to act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2327A-2A7A-4AA8-889F-A1B303DBDD56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Give a narrow file, component, runbook, or validation target.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60E95-B192-48F3-81D3-CCDA1969F469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4496A-9DC2-4B49-ACA8-8B970C8A95CE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Ask it to prove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CC119-EF6F-4AF6-AA02-B4C5B45B3151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Require the exact command, screenshot, event, or artifact that shows success.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2C927-BC3E-4879-B543-CE92A4383A74}"/>
              </a:ext>
            </a:extLst>
          </p:cNvPr>
          <p:cNvSpPr>
            <a:spLocks noGrp="1"/>
          </p:cNvSpPr>
          <p:nvPr/>
        </p:nvSpPr>
        <p:spPr>
          <a:xfrm>
            <a:off x="6096000" y="4781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FD75DE-96D9-4F41-89CE-E8169BA0B001}"/>
              </a:ext>
            </a:extLst>
          </p:cNvPr>
          <p:cNvSpPr>
            <a:spLocks noGrp="1"/>
          </p:cNvSpPr>
          <p:nvPr/>
        </p:nvSpPr>
        <p:spPr>
          <a:xfrm>
            <a:off x="6781800" y="4762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Keep judgment human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A39188-F20B-4E19-9787-749A5F99914A}"/>
              </a:ext>
            </a:extLst>
          </p:cNvPr>
          <p:cNvSpPr>
            <a:spLocks noGrp="1"/>
          </p:cNvSpPr>
          <p:nvPr/>
        </p:nvSpPr>
        <p:spPr>
          <a:xfrm>
            <a:off x="6781800" y="5181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Humans own hardware safety, mission decisions, merge approval, and demo acceptance.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8D44BE-1BF1-4D53-B670-29CD749396B3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Simple operating rule: no proof, no claim.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1F60E-851C-4BDE-A3DE-F609F35A17C1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06243B-078E-4DEC-B24F-60D501E29580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B2FBDE-B5AF-496D-A0F7-C4D3B24A233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216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28C231A-2DF1-4C32-BCCE-D01B9146E16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81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Each AI surface has a different job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D38C9-2899-4934-9AC9-FCA94C9F3070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5376E-046D-4FDE-8F4F-CF3D2A0312CE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247650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ECE702-C6BD-46E2-A071-EA96AFE2968D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374DAD-9F89-4810-B2D6-9E8E36811754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2533650" cy="438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5EBDA-4B15-40AF-92DF-C0A91222A480}"/>
              </a:ext>
            </a:extLst>
          </p:cNvPr>
          <p:cNvSpPr>
            <a:spLocks noGrp="1"/>
          </p:cNvSpPr>
          <p:nvPr/>
        </p:nvSpPr>
        <p:spPr>
          <a:xfrm>
            <a:off x="3371850" y="1695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Best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C1C493-C483-49C6-8D2B-6CF9CCFABCC8}"/>
              </a:ext>
            </a:extLst>
          </p:cNvPr>
          <p:cNvSpPr>
            <a:spLocks noGrp="1"/>
          </p:cNvSpPr>
          <p:nvPr/>
        </p:nvSpPr>
        <p:spPr>
          <a:xfrm>
            <a:off x="6153150" y="1581150"/>
            <a:ext cx="2533650" cy="438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C78EF-7E3D-4FFF-9011-9FA6764FF845}"/>
              </a:ext>
            </a:extLst>
          </p:cNvPr>
          <p:cNvSpPr>
            <a:spLocks noGrp="1"/>
          </p:cNvSpPr>
          <p:nvPr/>
        </p:nvSpPr>
        <p:spPr>
          <a:xfrm>
            <a:off x="6286500" y="1695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Bad 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E71C5F-1FB7-44C4-B582-0AF44ABBEA63}"/>
              </a:ext>
            </a:extLst>
          </p:cNvPr>
          <p:cNvSpPr>
            <a:spLocks noGrp="1"/>
          </p:cNvSpPr>
          <p:nvPr/>
        </p:nvSpPr>
        <p:spPr>
          <a:xfrm>
            <a:off x="9029700" y="1581150"/>
            <a:ext cx="2762250" cy="438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A4C321-7E02-487D-A85C-CFB84BBF9F97}"/>
              </a:ext>
            </a:extLst>
          </p:cNvPr>
          <p:cNvSpPr>
            <a:spLocks noGrp="1"/>
          </p:cNvSpPr>
          <p:nvPr/>
        </p:nvSpPr>
        <p:spPr>
          <a:xfrm>
            <a:off x="9163050" y="1695450"/>
            <a:ext cx="249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 rule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13716-A46F-42CC-8102-898D14DC93B6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247650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49056-3A26-491A-957F-F6444FD0D344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Codex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05738E-E24B-4160-BB2D-52F564207023}"/>
              </a:ext>
            </a:extLst>
          </p:cNvPr>
          <p:cNvSpPr>
            <a:spLocks noGrp="1"/>
          </p:cNvSpPr>
          <p:nvPr/>
        </p:nvSpPr>
        <p:spPr>
          <a:xfrm>
            <a:off x="3238500" y="2019300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8A0DF5-46E7-424A-B57E-C10263F76F02}"/>
              </a:ext>
            </a:extLst>
          </p:cNvPr>
          <p:cNvSpPr>
            <a:spLocks noGrp="1"/>
          </p:cNvSpPr>
          <p:nvPr/>
        </p:nvSpPr>
        <p:spPr>
          <a:xfrm>
            <a:off x="3371850" y="2152650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Repo edits, builds, tests, docs, Git handoff, artifact creation.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17ECCA-3431-4A50-A4D5-4268E2783B9C}"/>
              </a:ext>
            </a:extLst>
          </p:cNvPr>
          <p:cNvSpPr>
            <a:spLocks noGrp="1"/>
          </p:cNvSpPr>
          <p:nvPr/>
        </p:nvSpPr>
        <p:spPr>
          <a:xfrm>
            <a:off x="6153150" y="2019300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575C2-966B-4E86-B0C9-00B7AC9747F5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Blind strategy answers without reading the checkout.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04BA88-2E41-4B5C-9336-C8E6DE7C9112}"/>
              </a:ext>
            </a:extLst>
          </p:cNvPr>
          <p:cNvSpPr>
            <a:spLocks noGrp="1"/>
          </p:cNvSpPr>
          <p:nvPr/>
        </p:nvSpPr>
        <p:spPr>
          <a:xfrm>
            <a:off x="9029700" y="2019300"/>
            <a:ext cx="27622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A443F-A6BD-45B5-A3DB-829C12184996}"/>
              </a:ext>
            </a:extLst>
          </p:cNvPr>
          <p:cNvSpPr>
            <a:spLocks noGrp="1"/>
          </p:cNvSpPr>
          <p:nvPr/>
        </p:nvSpPr>
        <p:spPr>
          <a:xfrm>
            <a:off x="9163050" y="2152650"/>
            <a:ext cx="2495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Use for implementation and verification.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A58F34-7C79-473B-B9A1-55D3C5AEC710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247650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9553FC-378D-4E2F-A539-AAF9658BF555}"/>
              </a:ext>
            </a:extLst>
          </p:cNvPr>
          <p:cNvSpPr>
            <a:spLocks noGrp="1"/>
          </p:cNvSpPr>
          <p:nvPr/>
        </p:nvSpPr>
        <p:spPr>
          <a:xfrm>
            <a:off x="533400" y="30384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Claude 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C5C73B-C4AD-45CE-9CEA-17D76AC26EA9}"/>
              </a:ext>
            </a:extLst>
          </p:cNvPr>
          <p:cNvSpPr>
            <a:spLocks noGrp="1"/>
          </p:cNvSpPr>
          <p:nvPr/>
        </p:nvSpPr>
        <p:spPr>
          <a:xfrm>
            <a:off x="3238500" y="2905125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C642FB-C707-43EE-83DD-F5287F70F297}"/>
              </a:ext>
            </a:extLst>
          </p:cNvPr>
          <p:cNvSpPr>
            <a:spLocks noGrp="1"/>
          </p:cNvSpPr>
          <p:nvPr/>
        </p:nvSpPr>
        <p:spPr>
          <a:xfrm>
            <a:off x="3371850" y="3038475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Parallel code reading, refactors, review passes, long-context reasoning.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E51CE4-BA7F-48ED-B787-A3745558BA1A}"/>
              </a:ext>
            </a:extLst>
          </p:cNvPr>
          <p:cNvSpPr>
            <a:spLocks noGrp="1"/>
          </p:cNvSpPr>
          <p:nvPr/>
        </p:nvSpPr>
        <p:spPr>
          <a:xfrm>
            <a:off x="6153150" y="2905125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D11475-185F-4D67-8205-010E8C140C17}"/>
              </a:ext>
            </a:extLst>
          </p:cNvPr>
          <p:cNvSpPr>
            <a:spLocks noGrp="1"/>
          </p:cNvSpPr>
          <p:nvPr/>
        </p:nvSpPr>
        <p:spPr>
          <a:xfrm>
            <a:off x="6286500" y="3038475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Diverging from repo rules or creating a second source of truth.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EA706F-A163-4255-8DE7-593B00CE57BB}"/>
              </a:ext>
            </a:extLst>
          </p:cNvPr>
          <p:cNvSpPr>
            <a:spLocks noGrp="1"/>
          </p:cNvSpPr>
          <p:nvPr/>
        </p:nvSpPr>
        <p:spPr>
          <a:xfrm>
            <a:off x="9029700" y="2905125"/>
            <a:ext cx="27622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00BFAC-9FFC-4962-879A-9A57FCBFA16C}"/>
              </a:ext>
            </a:extLst>
          </p:cNvPr>
          <p:cNvSpPr>
            <a:spLocks noGrp="1"/>
          </p:cNvSpPr>
          <p:nvPr/>
        </p:nvSpPr>
        <p:spPr>
          <a:xfrm>
            <a:off x="9163050" y="3038475"/>
            <a:ext cx="2495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Point it at AGENTS.md and shared skills.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D995EC-5619-48C1-943F-A6C42B4D2209}"/>
              </a:ext>
            </a:extLst>
          </p:cNvPr>
          <p:cNvSpPr>
            <a:spLocks noGrp="1"/>
          </p:cNvSpPr>
          <p:nvPr/>
        </p:nvSpPr>
        <p:spPr>
          <a:xfrm>
            <a:off x="400050" y="3790950"/>
            <a:ext cx="247650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AD56CA-6621-4307-80FC-18B338D30554}"/>
              </a:ext>
            </a:extLst>
          </p:cNvPr>
          <p:cNvSpPr>
            <a:spLocks noGrp="1"/>
          </p:cNvSpPr>
          <p:nvPr/>
        </p:nvSpPr>
        <p:spPr>
          <a:xfrm>
            <a:off x="533400" y="392430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REPL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347736-01BD-44B5-BDE2-1C6C264785EF}"/>
              </a:ext>
            </a:extLst>
          </p:cNvPr>
          <p:cNvSpPr>
            <a:spLocks noGrp="1"/>
          </p:cNvSpPr>
          <p:nvPr/>
        </p:nvSpPr>
        <p:spPr>
          <a:xfrm>
            <a:off x="3238500" y="3790950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C85BD-47F8-4280-B878-58E005CAB9F5}"/>
              </a:ext>
            </a:extLst>
          </p:cNvPr>
          <p:cNvSpPr>
            <a:spLocks noGrp="1"/>
          </p:cNvSpPr>
          <p:nvPr/>
        </p:nvSpPr>
        <p:spPr>
          <a:xfrm>
            <a:off x="3371850" y="3924300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Fast scratchpad for data inspection, scripts, API checks, and browser automation.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E6F2FF-4880-4E01-89FC-324B1F5B8862}"/>
              </a:ext>
            </a:extLst>
          </p:cNvPr>
          <p:cNvSpPr>
            <a:spLocks noGrp="1"/>
          </p:cNvSpPr>
          <p:nvPr/>
        </p:nvSpPr>
        <p:spPr>
          <a:xfrm>
            <a:off x="6153150" y="3790950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C6A938-C5AB-42C5-BF37-AA322985F2DF}"/>
              </a:ext>
            </a:extLst>
          </p:cNvPr>
          <p:cNvSpPr>
            <a:spLocks noGrp="1"/>
          </p:cNvSpPr>
          <p:nvPr/>
        </p:nvSpPr>
        <p:spPr>
          <a:xfrm>
            <a:off x="6286500" y="3924300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Silent one-off logic that never lands in the repo.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6CC0E8-523E-4E96-B9C1-C2B818200F85}"/>
              </a:ext>
            </a:extLst>
          </p:cNvPr>
          <p:cNvSpPr>
            <a:spLocks noGrp="1"/>
          </p:cNvSpPr>
          <p:nvPr/>
        </p:nvSpPr>
        <p:spPr>
          <a:xfrm>
            <a:off x="9029700" y="3790950"/>
            <a:ext cx="27622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26D830-9917-408B-8EEC-9C71A0B2493A}"/>
              </a:ext>
            </a:extLst>
          </p:cNvPr>
          <p:cNvSpPr>
            <a:spLocks noGrp="1"/>
          </p:cNvSpPr>
          <p:nvPr/>
        </p:nvSpPr>
        <p:spPr>
          <a:xfrm>
            <a:off x="9163050" y="3924300"/>
            <a:ext cx="2495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Promote durable work into scripts or docs.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B3C02E-AC91-4828-91DD-5B103C4D3EDF}"/>
              </a:ext>
            </a:extLst>
          </p:cNvPr>
          <p:cNvSpPr>
            <a:spLocks noGrp="1"/>
          </p:cNvSpPr>
          <p:nvPr/>
        </p:nvSpPr>
        <p:spPr>
          <a:xfrm>
            <a:off x="400050" y="4676775"/>
            <a:ext cx="247650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B0F461-A77E-47CE-BCBF-8D9B1BC6159B}"/>
              </a:ext>
            </a:extLst>
          </p:cNvPr>
          <p:cNvSpPr>
            <a:spLocks noGrp="1"/>
          </p:cNvSpPr>
          <p:nvPr/>
        </p:nvSpPr>
        <p:spPr>
          <a:xfrm>
            <a:off x="533400" y="481012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Chat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EB2762-411D-411F-9AD0-9106B519DDCB}"/>
              </a:ext>
            </a:extLst>
          </p:cNvPr>
          <p:cNvSpPr>
            <a:spLocks noGrp="1"/>
          </p:cNvSpPr>
          <p:nvPr/>
        </p:nvSpPr>
        <p:spPr>
          <a:xfrm>
            <a:off x="3238500" y="4676775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972CD0-4D0D-44E2-A531-841038FEE2C8}"/>
              </a:ext>
            </a:extLst>
          </p:cNvPr>
          <p:cNvSpPr>
            <a:spLocks noGrp="1"/>
          </p:cNvSpPr>
          <p:nvPr/>
        </p:nvSpPr>
        <p:spPr>
          <a:xfrm>
            <a:off x="3371850" y="4810125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Briefs, explanations, tradeoffs, prompt drafting, and planning.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E2ABDA-B906-450B-8CAF-06C13F885783}"/>
              </a:ext>
            </a:extLst>
          </p:cNvPr>
          <p:cNvSpPr>
            <a:spLocks noGrp="1"/>
          </p:cNvSpPr>
          <p:nvPr/>
        </p:nvSpPr>
        <p:spPr>
          <a:xfrm>
            <a:off x="6153150" y="4676775"/>
            <a:ext cx="25336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EAA9D1-D439-4584-B81A-EC35720A26E6}"/>
              </a:ext>
            </a:extLst>
          </p:cNvPr>
          <p:cNvSpPr>
            <a:spLocks noGrp="1"/>
          </p:cNvSpPr>
          <p:nvPr/>
        </p:nvSpPr>
        <p:spPr>
          <a:xfrm>
            <a:off x="6286500" y="4810125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Unverified claims about live hardware or current files.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25FEF5-2A7A-465C-A006-B4220C475DD0}"/>
              </a:ext>
            </a:extLst>
          </p:cNvPr>
          <p:cNvSpPr>
            <a:spLocks noGrp="1"/>
          </p:cNvSpPr>
          <p:nvPr/>
        </p:nvSpPr>
        <p:spPr>
          <a:xfrm>
            <a:off x="9029700" y="4676775"/>
            <a:ext cx="2762250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DE154B-BBE1-48D8-97EA-44318198F01B}"/>
              </a:ext>
            </a:extLst>
          </p:cNvPr>
          <p:cNvSpPr>
            <a:spLocks noGrp="1"/>
          </p:cNvSpPr>
          <p:nvPr/>
        </p:nvSpPr>
        <p:spPr>
          <a:xfrm>
            <a:off x="9163050" y="4810125"/>
            <a:ext cx="2495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Convert advice into a checkable task.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217028-8A3D-4C47-A91F-74C88D667478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91C92B-66F2-488E-8F80-9E891E21BADD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7437F7-CB9F-43E2-8541-A02C6640C4B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455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EF7AA68-2ED0-46FF-92D9-F384BA4611D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81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Context engineering is how you make the agent useful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2412DF-F319-4318-987A-49656D4FA5EB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AF74CB-87B7-47DC-BA5F-EC37EC5FF163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000250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55B16-9226-4408-B8B1-C682EBC00A49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5D906-64CF-463E-AE29-FA85E5AEBD63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Goal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BBE7F3-EF98-4976-8F7E-9FCCB2F021D0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should change, and why does it matter?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468B44-737E-44EA-9E43-6A84E6D4803C}"/>
              </a:ext>
            </a:extLst>
          </p:cNvPr>
          <p:cNvSpPr>
            <a:spLocks noGrp="1"/>
          </p:cNvSpPr>
          <p:nvPr/>
        </p:nvSpPr>
        <p:spPr>
          <a:xfrm>
            <a:off x="24384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34762-EF60-4A6C-A5A6-C8AF5A36BACF}"/>
              </a:ext>
            </a:extLst>
          </p:cNvPr>
          <p:cNvSpPr>
            <a:spLocks noGrp="1"/>
          </p:cNvSpPr>
          <p:nvPr/>
        </p:nvSpPr>
        <p:spPr>
          <a:xfrm>
            <a:off x="26670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58AA4A-70FF-48C2-BFB9-9DC181D88E91}"/>
              </a:ext>
            </a:extLst>
          </p:cNvPr>
          <p:cNvSpPr>
            <a:spLocks noGrp="1"/>
          </p:cNvSpPr>
          <p:nvPr/>
        </p:nvSpPr>
        <p:spPr>
          <a:xfrm>
            <a:off x="28194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CB6189-8E0B-4986-AF6B-6BBF72B207BE}"/>
              </a:ext>
            </a:extLst>
          </p:cNvPr>
          <p:cNvSpPr>
            <a:spLocks noGrp="1"/>
          </p:cNvSpPr>
          <p:nvPr/>
        </p:nvSpPr>
        <p:spPr>
          <a:xfrm>
            <a:off x="28194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Ground truth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4FA5D9-7F2E-4F6D-94A0-9838E7A28A49}"/>
              </a:ext>
            </a:extLst>
          </p:cNvPr>
          <p:cNvSpPr>
            <a:spLocks noGrp="1"/>
          </p:cNvSpPr>
          <p:nvPr/>
        </p:nvSpPr>
        <p:spPr>
          <a:xfrm>
            <a:off x="28194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Which files, docs, branch, hardware, or logs are authoritative?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BCF2D5-49E4-4DB9-97C3-A85DEAFFCDE5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7E3EA6-7C48-4B9B-B5A3-EC3F18ACB2A9}"/>
              </a:ext>
            </a:extLst>
          </p:cNvPr>
          <p:cNvSpPr>
            <a:spLocks noGrp="1"/>
          </p:cNvSpPr>
          <p:nvPr/>
        </p:nvSpPr>
        <p:spPr>
          <a:xfrm>
            <a:off x="49339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18E75-74CC-45AB-8897-C6274744876F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4D1266-E2F2-4F9B-99F8-C68EDD261EA0}"/>
              </a:ext>
            </a:extLst>
          </p:cNvPr>
          <p:cNvSpPr>
            <a:spLocks noGrp="1"/>
          </p:cNvSpPr>
          <p:nvPr/>
        </p:nvSpPr>
        <p:spPr>
          <a:xfrm>
            <a:off x="50863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Boundaries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C26A7-E5E2-4061-A614-CC7A73754601}"/>
              </a:ext>
            </a:extLst>
          </p:cNvPr>
          <p:cNvSpPr>
            <a:spLocks noGrp="1"/>
          </p:cNvSpPr>
          <p:nvPr/>
        </p:nvSpPr>
        <p:spPr>
          <a:xfrm>
            <a:off x="50863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should it not touch or overclaim?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DF2880-8F71-4C3E-981B-4F9AC6B34B8D}"/>
              </a:ext>
            </a:extLst>
          </p:cNvPr>
          <p:cNvSpPr>
            <a:spLocks noGrp="1"/>
          </p:cNvSpPr>
          <p:nvPr/>
        </p:nvSpPr>
        <p:spPr>
          <a:xfrm>
            <a:off x="69723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ECC21-680C-44D6-9B4A-C88752215A97}"/>
              </a:ext>
            </a:extLst>
          </p:cNvPr>
          <p:cNvSpPr>
            <a:spLocks noGrp="1"/>
          </p:cNvSpPr>
          <p:nvPr/>
        </p:nvSpPr>
        <p:spPr>
          <a:xfrm>
            <a:off x="72009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011B3-EC50-4EEA-805A-42BC7B94F854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8E72F2-B208-410A-A866-69275EBBC5F6}"/>
              </a:ext>
            </a:extLst>
          </p:cNvPr>
          <p:cNvSpPr>
            <a:spLocks noGrp="1"/>
          </p:cNvSpPr>
          <p:nvPr/>
        </p:nvSpPr>
        <p:spPr>
          <a:xfrm>
            <a:off x="73533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Proof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DB2519-3442-4261-AD5D-86FBA62D5F84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must pass before the work is accepted?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8E7118-39D8-41A8-A111-D214B4C61C4F}"/>
              </a:ext>
            </a:extLst>
          </p:cNvPr>
          <p:cNvSpPr>
            <a:spLocks noGrp="1"/>
          </p:cNvSpPr>
          <p:nvPr/>
        </p:nvSpPr>
        <p:spPr>
          <a:xfrm>
            <a:off x="92392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3C659-DD49-4D07-BDCC-CDEFCC9BF9EE}"/>
              </a:ext>
            </a:extLst>
          </p:cNvPr>
          <p:cNvSpPr>
            <a:spLocks noGrp="1"/>
          </p:cNvSpPr>
          <p:nvPr/>
        </p:nvSpPr>
        <p:spPr>
          <a:xfrm>
            <a:off x="94678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A2F0A0-0C2D-4BB3-BBD4-4FB60017DB2A}"/>
              </a:ext>
            </a:extLst>
          </p:cNvPr>
          <p:cNvSpPr>
            <a:spLocks noGrp="1"/>
          </p:cNvSpPr>
          <p:nvPr/>
        </p:nvSpPr>
        <p:spPr>
          <a:xfrm>
            <a:off x="96202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D19235-CE72-41B4-8FEA-E17C241DB67D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Handoff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14D56-E717-4F00-BA09-DA9320970493}"/>
              </a:ext>
            </a:extLst>
          </p:cNvPr>
          <p:cNvSpPr>
            <a:spLocks noGrp="1"/>
          </p:cNvSpPr>
          <p:nvPr/>
        </p:nvSpPr>
        <p:spPr>
          <a:xfrm>
            <a:off x="96202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should the next person know?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2C5DCA-CD38-43FD-8808-57FB7E7C96A7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A strong prompt is not long. It is specific about sources, scope, and acceptance.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4CF904-D817-44C9-BE70-8A56405DD07A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D9A5CE-8A6D-4495-977C-5B47EB4D7C2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860503-C49B-4D7F-900D-7F9650D33F90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673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D9FBD70-7178-46AA-9FE9-A64ED10126F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AGENTS.md is the operating contract for the repo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5C24C-DFEA-4C4C-B79C-9D87B2E5603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CBB21-EB45-4EA7-B6D4-F7F8C7B951B4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It tells every agent how to behave before it starts changing things.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04F1E-7ABC-44B0-87BA-3998C0E2058A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2D341-0BC1-4A7D-823F-59B3B85DA9D7}"/>
              </a:ext>
            </a:extLst>
          </p:cNvPr>
          <p:cNvSpPr>
            <a:spLocks noGrp="1"/>
          </p:cNvSpPr>
          <p:nvPr/>
        </p:nvSpPr>
        <p:spPr>
          <a:xfrm>
            <a:off x="6781800" y="1790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Current branch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47C093-4B8B-4F11-9474-9EC0629D3112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Check branch and submodules before assuming state.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152B2-2E46-4B5E-854B-2345389B7342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C7FB1F-BBA9-4F4F-A7E0-70B5B60F4DDF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F8857-BBBA-4ACA-9F98-F5C5DF9B2DE2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Repo-local docs first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FA8EF-4A45-45C1-98F4-91F239F983C5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 the checked-out F Prime docs before live web docs.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17DE5-1F1F-4711-B4F9-82321108A07C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1DAB9-3009-4438-8B6C-0286E01A82EB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DAF28A-0D3F-419C-9117-F23F52965E20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Demo-first scope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7B2F-695E-4B7C-B987-33994E053201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Prefer the smallest change that supports the FlatSat story.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89143-2B76-40D5-A425-B350CA1A2D79}"/>
              </a:ext>
            </a:extLst>
          </p:cNvPr>
          <p:cNvSpPr>
            <a:spLocks noGrp="1"/>
          </p:cNvSpPr>
          <p:nvPr/>
        </p:nvSpPr>
        <p:spPr>
          <a:xfrm>
            <a:off x="6096000" y="45910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5F78C6-62C5-454A-BDF2-2503D4BAADEB}"/>
              </a:ext>
            </a:extLst>
          </p:cNvPr>
          <p:cNvSpPr>
            <a:spLocks noGrp="1"/>
          </p:cNvSpPr>
          <p:nvPr/>
        </p:nvSpPr>
        <p:spPr>
          <a:xfrm>
            <a:off x="6096000" y="4781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9C46DE-56B1-4E2E-97A8-79602D8D60BE}"/>
              </a:ext>
            </a:extLst>
          </p:cNvPr>
          <p:cNvSpPr>
            <a:spLocks noGrp="1"/>
          </p:cNvSpPr>
          <p:nvPr/>
        </p:nvSpPr>
        <p:spPr>
          <a:xfrm>
            <a:off x="6781800" y="4762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Student-safe defaults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7F0F64-5AA0-47AE-B41C-EB4445FBF791}"/>
              </a:ext>
            </a:extLst>
          </p:cNvPr>
          <p:cNvSpPr>
            <a:spLocks noGrp="1"/>
          </p:cNvSpPr>
          <p:nvPr/>
        </p:nvSpPr>
        <p:spPr>
          <a:xfrm>
            <a:off x="6781800" y="5181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macOS examples first, Windows through WSL2 for F Prime development.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0E766-E396-4AF2-B478-1830043D7092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 this repo: AGENTS.md routes architecture to docs/SYSTEM_ARCHITECTURE.md and current status to docs/agents_notes.md.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3E342A-38C4-4B68-A7FF-ECB984C57B74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731C9F-0FEB-4A0B-A878-BFF9BB7FED7B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09C172-2786-4243-BF9D-5B473F47CEB8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096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FD5496B-ACA1-417C-B9F8-86564372BD8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SKILLS.md-style folders turn lessons into reusable workflows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20F8C-63F7-443F-A478-5F31FAE60DA7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844FB-4812-47B3-B503-4EF2150C63ED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A skill is a small local instruction pack: when to use it, what to read, what commands matter, and what mistakes to avoid.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FB91B1-EC2B-469F-9448-589AA30028ED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B5F81-8C84-4C69-A005-813DE82B4984}"/>
              </a:ext>
            </a:extLst>
          </p:cNvPr>
          <p:cNvSpPr>
            <a:spLocks noGrp="1"/>
          </p:cNvSpPr>
          <p:nvPr/>
        </p:nvSpPr>
        <p:spPr>
          <a:xfrm>
            <a:off x="6781800" y="1790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fprime-swe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2A0ACB-6043-4D34-87DE-D126705F185B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Component, topology, build, and F Prime workflow.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7A79E-4CB9-41F0-B6D2-DEC34D96B0F0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50363-8364-434B-BBBF-EBE1171F2284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6261F-E161-4A19-864A-B3FF8E46982A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fprime-docs-search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825A2-76F0-4A64-8ED5-FEB23B5C7005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Search the repo-pinned F Prime docs before the web.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5E4340-60DC-4855-9E09-6B1830886F58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AAE14A-6295-486E-B324-EB6DD615A0B5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C1C92F-181D-43AA-82C7-56EF04800A3C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fprime-hil-testing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A8E115-628F-4BF8-A005-921D8D946694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Staged hardware bring-up, serial identity, GDS, payload receiver, viewer proof.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D0D778-F23F-45D5-8B51-5275564D1FBE}"/>
              </a:ext>
            </a:extLst>
          </p:cNvPr>
          <p:cNvSpPr>
            <a:spLocks noGrp="1"/>
          </p:cNvSpPr>
          <p:nvPr/>
        </p:nvSpPr>
        <p:spPr>
          <a:xfrm>
            <a:off x="6096000" y="45910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A08C1-4795-42BE-99AC-33933A56AB82}"/>
              </a:ext>
            </a:extLst>
          </p:cNvPr>
          <p:cNvSpPr>
            <a:spLocks noGrp="1"/>
          </p:cNvSpPr>
          <p:nvPr/>
        </p:nvSpPr>
        <p:spPr>
          <a:xfrm>
            <a:off x="6096000" y="4781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307009-A006-4C88-8F79-1ED60F3A30F9}"/>
              </a:ext>
            </a:extLst>
          </p:cNvPr>
          <p:cNvSpPr>
            <a:spLocks noGrp="1"/>
          </p:cNvSpPr>
          <p:nvPr/>
        </p:nvSpPr>
        <p:spPr>
          <a:xfrm>
            <a:off x="6781800" y="4762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student-git-handoff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AEDC75-A153-4D22-A01E-BF277C7E732F}"/>
              </a:ext>
            </a:extLst>
          </p:cNvPr>
          <p:cNvSpPr>
            <a:spLocks noGrp="1"/>
          </p:cNvSpPr>
          <p:nvPr/>
        </p:nvSpPr>
        <p:spPr>
          <a:xfrm>
            <a:off x="6781800" y="5181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Plain-language feature branch, commit, push, and PR workflow.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F1611-5DC6-4BBF-B10E-C9DE10BFCADA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Shared skills live under .agents/skills and .claude/skills so different agent surfaces inherit the same rules.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ADF71A-2D00-47FA-A4DD-0CD610BB72A7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17709D-A20D-49E7-AD22-CCA3C91DD452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9D65AE-BC36-42FA-9FD2-ECA56EBEA156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175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80BD3E3-D1EB-4CD2-B1FF-34FCD6CD57E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81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best agent loop is read, plan, change, verify, hand off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ECA26B-C3F5-4E68-AFBB-F8192EE2503C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9A6D1B-17F5-483A-90B6-295CFDC708FE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000250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BA31C-DE48-49BC-9801-1CD509E9944B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94E128-117D-4B16-A9F7-87DDA39F4CAC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49D994-3888-43F3-B50C-59979662C924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Inspect source files, docs, branch, logs, and hardware map.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9C8730-7F48-4D38-A552-F7EC7652BE0D}"/>
              </a:ext>
            </a:extLst>
          </p:cNvPr>
          <p:cNvSpPr>
            <a:spLocks noGrp="1"/>
          </p:cNvSpPr>
          <p:nvPr/>
        </p:nvSpPr>
        <p:spPr>
          <a:xfrm>
            <a:off x="24384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491215-5DFF-4B87-A9BD-EF7165D0897D}"/>
              </a:ext>
            </a:extLst>
          </p:cNvPr>
          <p:cNvSpPr>
            <a:spLocks noGrp="1"/>
          </p:cNvSpPr>
          <p:nvPr/>
        </p:nvSpPr>
        <p:spPr>
          <a:xfrm>
            <a:off x="26670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5C0F2-20A5-45FF-818A-176E7328EA94}"/>
              </a:ext>
            </a:extLst>
          </p:cNvPr>
          <p:cNvSpPr>
            <a:spLocks noGrp="1"/>
          </p:cNvSpPr>
          <p:nvPr/>
        </p:nvSpPr>
        <p:spPr>
          <a:xfrm>
            <a:off x="28194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0BB1E7-1913-4469-9425-D5826F9EE14D}"/>
              </a:ext>
            </a:extLst>
          </p:cNvPr>
          <p:cNvSpPr>
            <a:spLocks noGrp="1"/>
          </p:cNvSpPr>
          <p:nvPr/>
        </p:nvSpPr>
        <p:spPr>
          <a:xfrm>
            <a:off x="28194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C3FDB2-96D2-4CE6-90F1-7C90AE9073C3}"/>
              </a:ext>
            </a:extLst>
          </p:cNvPr>
          <p:cNvSpPr>
            <a:spLocks noGrp="1"/>
          </p:cNvSpPr>
          <p:nvPr/>
        </p:nvSpPr>
        <p:spPr>
          <a:xfrm>
            <a:off x="28194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Name the narrow change and validation target.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C36B55-CC33-4A7B-9359-8B3C1D34A2E6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8F5E98-2D7F-44C1-877C-0A892E778E0D}"/>
              </a:ext>
            </a:extLst>
          </p:cNvPr>
          <p:cNvSpPr>
            <a:spLocks noGrp="1"/>
          </p:cNvSpPr>
          <p:nvPr/>
        </p:nvSpPr>
        <p:spPr>
          <a:xfrm>
            <a:off x="49339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F7A4D0-11B3-44AD-B01F-F7DC71AC2823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479D79-B6C7-4521-A3E7-35B108591BEE}"/>
              </a:ext>
            </a:extLst>
          </p:cNvPr>
          <p:cNvSpPr>
            <a:spLocks noGrp="1"/>
          </p:cNvSpPr>
          <p:nvPr/>
        </p:nvSpPr>
        <p:spPr>
          <a:xfrm>
            <a:off x="50863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A22F8F-971A-4F99-B509-6B34CBA4F82B}"/>
              </a:ext>
            </a:extLst>
          </p:cNvPr>
          <p:cNvSpPr>
            <a:spLocks noGrp="1"/>
          </p:cNvSpPr>
          <p:nvPr/>
        </p:nvSpPr>
        <p:spPr>
          <a:xfrm>
            <a:off x="50863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Edit only the files needed for the task.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B65444-F6ED-4C0F-B8BD-A26301713D5B}"/>
              </a:ext>
            </a:extLst>
          </p:cNvPr>
          <p:cNvSpPr>
            <a:spLocks noGrp="1"/>
          </p:cNvSpPr>
          <p:nvPr/>
        </p:nvSpPr>
        <p:spPr>
          <a:xfrm>
            <a:off x="69723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3931F3-60A2-4171-89B7-C891B6A3A7CE}"/>
              </a:ext>
            </a:extLst>
          </p:cNvPr>
          <p:cNvSpPr>
            <a:spLocks noGrp="1"/>
          </p:cNvSpPr>
          <p:nvPr/>
        </p:nvSpPr>
        <p:spPr>
          <a:xfrm>
            <a:off x="72009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94B520-D1C5-439D-83B4-A6CF134729FC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3F9019-0CAD-416E-90B9-C9E3C64D1E2F}"/>
              </a:ext>
            </a:extLst>
          </p:cNvPr>
          <p:cNvSpPr>
            <a:spLocks noGrp="1"/>
          </p:cNvSpPr>
          <p:nvPr/>
        </p:nvSpPr>
        <p:spPr>
          <a:xfrm>
            <a:off x="73533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C77F5-83F0-4EA1-B28B-7A8BF0A3F728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Run the relevant gate and capture evidence.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68B6E2-708B-49CB-B284-C753B377F670}"/>
              </a:ext>
            </a:extLst>
          </p:cNvPr>
          <p:cNvSpPr>
            <a:spLocks noGrp="1"/>
          </p:cNvSpPr>
          <p:nvPr/>
        </p:nvSpPr>
        <p:spPr>
          <a:xfrm>
            <a:off x="92392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ADF379-C53A-4BE3-A8DA-6FB16369E6E6}"/>
              </a:ext>
            </a:extLst>
          </p:cNvPr>
          <p:cNvSpPr>
            <a:spLocks noGrp="1"/>
          </p:cNvSpPr>
          <p:nvPr/>
        </p:nvSpPr>
        <p:spPr>
          <a:xfrm>
            <a:off x="94678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8DD5-5714-4673-AC29-6C3247B6A032}"/>
              </a:ext>
            </a:extLst>
          </p:cNvPr>
          <p:cNvSpPr>
            <a:spLocks noGrp="1"/>
          </p:cNvSpPr>
          <p:nvPr/>
        </p:nvSpPr>
        <p:spPr>
          <a:xfrm>
            <a:off x="96202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DBE03B-CA8C-4968-84F7-C6A32422BCCF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Handoff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5BDFDE-3E84-449E-865B-713742BAD952}"/>
              </a:ext>
            </a:extLst>
          </p:cNvPr>
          <p:cNvSpPr>
            <a:spLocks noGrp="1"/>
          </p:cNvSpPr>
          <p:nvPr/>
        </p:nvSpPr>
        <p:spPr>
          <a:xfrm>
            <a:off x="96202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Summarize files changed, proof, and residual risk.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2191FA-3473-457F-A7C5-99A3EBC48D37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Most wasted AI time comes from skipping the first or fourth step.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1DBB84-F439-4926-BD29-6762CABE542C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B6028F-4678-4DEB-8EB9-06E2B699296F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8C807E-28AC-442C-9C46-555019C8CD2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252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713D5A-3691-49FF-84B2-07762418952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47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This repo shows what proof-oriented agents can produce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B9E2B4-5264-42D5-9262-29CF592254BC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A8344F-33B4-4E21-8B99-C63F041C0E5D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point is not that AI “knew” the architecture.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A4B32-761D-4F51-9FB2-8024F4DD3B1F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4762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point is that agents helped turn scattered conversations, code, HIL findings, and docs into a usable Application -&gt; Manager -&gt; Driver system with runbooks, validation gates, and handoff material.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06F4AD-B169-4A6B-B6D3-C7D53AE47336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438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90F8B-18CE-427B-8C8E-A177711E54C1}"/>
              </a:ext>
            </a:extLst>
          </p:cNvPr>
          <p:cNvSpPr>
            <a:spLocks noGrp="1"/>
          </p:cNvSpPr>
          <p:nvPr/>
        </p:nvSpPr>
        <p:spPr>
          <a:xfrm>
            <a:off x="6705600" y="4248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Evidence pattern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5E8F7-BB05-4C7D-A830-E90368DE236A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Architecture claims live in docs, implementation lives in code, and proof lives in tests or HIL outputs.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CAB88C-9016-4FB8-AF21-ACF71F178D26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Source: docs/SYSTEM_ARCHITECTURE.md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946C7-08F3-4BE1-84B4-C8B7AF4F0403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56BB8-C02F-4E26-9F28-320DA820A77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066745-88F1-4A14-B1F3-34B75662271C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60BDBA-FA29-583A-AF7C-0F1AE0FA8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42" y="1805853"/>
            <a:ext cx="5774258" cy="324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6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11EACB-8D14-4F9A-A5A4-197A7A77678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47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For hardware work, logs are useful but proof is visible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6A02A6-778F-48E9-A15D-DD40F9D4C162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pic>
        <p:nvPicPr>
          <p:cNvPr id="25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447502"/>
            <a:ext cx="5391150" cy="16772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AB2EC2-5A42-49AA-983E-642FCFB72BE7}"/>
              </a:ext>
            </a:extLst>
          </p:cNvPr>
          <p:cNvSpPr>
            <a:spLocks noGrp="1"/>
          </p:cNvSpPr>
          <p:nvPr/>
        </p:nvSpPr>
        <p:spPr>
          <a:xfrm>
            <a:off x="6477000" y="15621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GDS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0909F-9DE1-498C-B0CC-992EA6B909D3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Command, event, telemetry visible to operator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19999-5644-4F09-9B0C-0F11F7E3A387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4838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E5355-A832-4E3A-BEF4-782BB0FC6722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Receiver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0C3F9-ABA1-4FC8-B867-E5A1735F6F31}"/>
              </a:ext>
            </a:extLst>
          </p:cNvPr>
          <p:cNvSpPr>
            <a:spLocks noGrp="1"/>
          </p:cNvSpPr>
          <p:nvPr/>
        </p:nvSpPr>
        <p:spPr>
          <a:xfrm>
            <a:off x="78105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Channel-1 payload file reconstructed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6ECFD1-189D-4BC2-A088-078121717B05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4838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51387-155A-45C8-A23B-7884341F2BA5}"/>
              </a:ext>
            </a:extLst>
          </p:cNvPr>
          <p:cNvSpPr>
            <a:spLocks noGrp="1"/>
          </p:cNvSpPr>
          <p:nvPr/>
        </p:nvSpPr>
        <p:spPr>
          <a:xfrm>
            <a:off x="6477000" y="28956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Viewer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1CEBFA-787F-41C6-BCDF-7B43769EF0C7}"/>
              </a:ext>
            </a:extLst>
          </p:cNvPr>
          <p:cNvSpPr>
            <a:spLocks noGrp="1"/>
          </p:cNvSpPr>
          <p:nvPr/>
        </p:nvSpPr>
        <p:spPr>
          <a:xfrm>
            <a:off x="7810500" y="29146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Science data opens and parses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1B74B-C02B-47DD-A16D-F6964EF6F861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4838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89296A-ED93-40DC-BA27-41DAFD712CB1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Hash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BD684D-1BE1-4078-8007-043E993975F0}"/>
              </a:ext>
            </a:extLst>
          </p:cNvPr>
          <p:cNvSpPr>
            <a:spLocks noGrp="1"/>
          </p:cNvSpPr>
          <p:nvPr/>
        </p:nvSpPr>
        <p:spPr>
          <a:xfrm>
            <a:off x="7810500" y="35814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Ground file matches Pi latest payload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3F67D-A113-4762-96C9-07811419A8A1}"/>
              </a:ext>
            </a:extLst>
          </p:cNvPr>
          <p:cNvSpPr>
            <a:spLocks noGrp="1"/>
          </p:cNvSpPr>
          <p:nvPr/>
        </p:nvSpPr>
        <p:spPr>
          <a:xfrm>
            <a:off x="6477000" y="4038600"/>
            <a:ext cx="4838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30A595-2111-433B-B199-969FB95564DB}"/>
              </a:ext>
            </a:extLst>
          </p:cNvPr>
          <p:cNvSpPr>
            <a:spLocks noGrp="1"/>
          </p:cNvSpPr>
          <p:nvPr/>
        </p:nvSpPr>
        <p:spPr>
          <a:xfrm>
            <a:off x="6477000" y="42291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Counters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9634DB-204F-4322-B590-CD58D8C3F941}"/>
              </a:ext>
            </a:extLst>
          </p:cNvPr>
          <p:cNvSpPr>
            <a:spLocks noGrp="1"/>
          </p:cNvSpPr>
          <p:nvPr/>
        </p:nvSpPr>
        <p:spPr>
          <a:xfrm>
            <a:off x="7810500" y="42481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Both Teensys agree packets moved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8449D-0FF4-4056-B1A1-BAA79B04ED42}"/>
              </a:ext>
            </a:extLst>
          </p:cNvPr>
          <p:cNvSpPr>
            <a:spLocks noGrp="1"/>
          </p:cNvSpPr>
          <p:nvPr/>
        </p:nvSpPr>
        <p:spPr>
          <a:xfrm>
            <a:off x="6477000" y="5143500"/>
            <a:ext cx="4819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Agent rule: never claim HIL success from local validation alone.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F7853F-C5A5-4F60-B14F-C4CEB0FA08D2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7E6420-0B72-4149-B43C-415F7B010D8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687E3B-F9A8-4885-8D60-C59D5C505BF5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526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8F7EC59-E9C0-4E35-8B75-6B6DA2F4D74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A good task prompt sounds like an engineering ticket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DAA878-4060-4B60-9EEA-4F4019D75046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6A2D6-6506-4CA2-9719-5A19629EB4DC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Pass the agent enough context to start correctly, then make success measurable.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2EBB94-36C3-417C-AC61-C54C1FD4FB9A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77603-40F9-4504-A441-AF995932C180}"/>
              </a:ext>
            </a:extLst>
          </p:cNvPr>
          <p:cNvSpPr>
            <a:spLocks noGrp="1"/>
          </p:cNvSpPr>
          <p:nvPr/>
        </p:nvSpPr>
        <p:spPr>
          <a:xfrm>
            <a:off x="6781800" y="1790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Start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2B7176-B660-4286-97DD-4912CFDE2A22}"/>
              </a:ext>
            </a:extLst>
          </p:cNvPr>
          <p:cNvSpPr>
            <a:spLocks noGrp="1"/>
          </p:cNvSpPr>
          <p:nvPr/>
        </p:nvSpPr>
        <p:spPr>
          <a:xfrm>
            <a:off x="6781800" y="2209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Read AGENTS.md, README.md, SYSTEM_ARCHITECTURE.md, and agents_notes.md.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DC882-7513-470D-AB1E-3B7A18A6B26B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95051-F062-418F-B22F-B689855219BB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74CE3-FDDC-40C7-9318-A8318A9C4B1E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339B2-2DAB-4221-ABE0-211EAEE25F29}"/>
              </a:ext>
            </a:extLst>
          </p:cNvPr>
          <p:cNvSpPr>
            <a:spLocks noGrp="1"/>
          </p:cNvSpPr>
          <p:nvPr/>
        </p:nvSpPr>
        <p:spPr>
          <a:xfrm>
            <a:off x="6781800" y="32004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Fix or explain one concrete behavior, file, component, or runbook.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6FEDD-E575-48DD-82EF-07EF79821414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17EE3-BA3C-4851-A278-8CBF39E1C403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FA5643-76F3-4909-84E4-28AF9E0798EA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Constraints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02B854-E955-4829-8EA3-04DB7EF7A5B9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KISS, demo-first, preserve Application -&gt; Manager -&gt; Driver.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49969-C9F7-4960-86CE-63199CEC5B4D}"/>
              </a:ext>
            </a:extLst>
          </p:cNvPr>
          <p:cNvSpPr>
            <a:spLocks noGrp="1"/>
          </p:cNvSpPr>
          <p:nvPr/>
        </p:nvSpPr>
        <p:spPr>
          <a:xfrm>
            <a:off x="6096000" y="4591050"/>
            <a:ext cx="5219700" cy="9525"/>
          </a:xfrm>
          <a:prstGeom prst="rect">
            <a:avLst/>
          </a:prstGeom>
          <a:solidFill>
            <a:srgbClr val="E4E4E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EEA47-E3C6-41C0-AA8B-0FE4211A0B42}"/>
              </a:ext>
            </a:extLst>
          </p:cNvPr>
          <p:cNvSpPr>
            <a:spLocks noGrp="1"/>
          </p:cNvSpPr>
          <p:nvPr/>
        </p:nvSpPr>
        <p:spPr>
          <a:xfrm>
            <a:off x="6096000" y="4781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0D6BB6-7E54-40FA-A77C-22A4DBF8880D}"/>
              </a:ext>
            </a:extLst>
          </p:cNvPr>
          <p:cNvSpPr>
            <a:spLocks noGrp="1"/>
          </p:cNvSpPr>
          <p:nvPr/>
        </p:nvSpPr>
        <p:spPr>
          <a:xfrm>
            <a:off x="6781800" y="4762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Acceptance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F272A0-D8C1-43BA-B9A3-17A466ED589E}"/>
              </a:ext>
            </a:extLst>
          </p:cNvPr>
          <p:cNvSpPr>
            <a:spLocks noGrp="1"/>
          </p:cNvSpPr>
          <p:nvPr/>
        </p:nvSpPr>
        <p:spPr>
          <a:xfrm>
            <a:off x="6781800" y="5181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Run the gate, show the artifact, or report why it could not be verified.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DC2B16-21A6-41FA-82C1-EADD46542342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Reusable prompt pattern: context + task + boundaries + proof.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9645E8-DAE5-4C71-AF1A-FE046BD59380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87247A-C8B6-407E-A274-2A1D00547E92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5A989-1198-450D-92C3-4E65B4C9472E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329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C5F646F-F5D9-43E8-9267-8279E7BD075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81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Use agents like a team habit, not a magic button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92AF84-D303-474E-A783-913390DFB04C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40EAE-0036-4A9D-9A69-8D5D6A61C6DA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000250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A590F-6027-4FA3-9739-81C07F7E8554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BD3ECA-03DB-4E68-9215-6A23F4F2D254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One 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1FFC8-344F-4406-A57A-7597944065AD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Keep rules in AGENTS.md and detailed truth in docs.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06749-C3F5-49ED-A1FE-CC4C02BECF94}"/>
              </a:ext>
            </a:extLst>
          </p:cNvPr>
          <p:cNvSpPr>
            <a:spLocks noGrp="1"/>
          </p:cNvSpPr>
          <p:nvPr/>
        </p:nvSpPr>
        <p:spPr>
          <a:xfrm>
            <a:off x="24384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C4F97F-6FC9-4602-9F55-E5A4CA8BB284}"/>
              </a:ext>
            </a:extLst>
          </p:cNvPr>
          <p:cNvSpPr>
            <a:spLocks noGrp="1"/>
          </p:cNvSpPr>
          <p:nvPr/>
        </p:nvSpPr>
        <p:spPr>
          <a:xfrm>
            <a:off x="26670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0BFB8-1A4A-44B2-9B56-6AD31051E507}"/>
              </a:ext>
            </a:extLst>
          </p:cNvPr>
          <p:cNvSpPr>
            <a:spLocks noGrp="1"/>
          </p:cNvSpPr>
          <p:nvPr/>
        </p:nvSpPr>
        <p:spPr>
          <a:xfrm>
            <a:off x="28194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57479-86C5-4B66-9D95-4408896DCDE5}"/>
              </a:ext>
            </a:extLst>
          </p:cNvPr>
          <p:cNvSpPr>
            <a:spLocks noGrp="1"/>
          </p:cNvSpPr>
          <p:nvPr/>
        </p:nvSpPr>
        <p:spPr>
          <a:xfrm>
            <a:off x="28194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Small PRs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A156DD-D703-47DA-A477-79AE6A61AC87}"/>
              </a:ext>
            </a:extLst>
          </p:cNvPr>
          <p:cNvSpPr>
            <a:spLocks noGrp="1"/>
          </p:cNvSpPr>
          <p:nvPr/>
        </p:nvSpPr>
        <p:spPr>
          <a:xfrm>
            <a:off x="28194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Ask for narrow changes and organized commits.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F0955-BCDC-4239-86F2-EDA0CFC00CCE}"/>
              </a:ext>
            </a:extLst>
          </p:cNvPr>
          <p:cNvSpPr>
            <a:spLocks noGrp="1"/>
          </p:cNvSpPr>
          <p:nvPr/>
        </p:nvSpPr>
        <p:spPr>
          <a:xfrm>
            <a:off x="47053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799159-C7FA-4E0A-9D45-E2CB0BD942E6}"/>
              </a:ext>
            </a:extLst>
          </p:cNvPr>
          <p:cNvSpPr>
            <a:spLocks noGrp="1"/>
          </p:cNvSpPr>
          <p:nvPr/>
        </p:nvSpPr>
        <p:spPr>
          <a:xfrm>
            <a:off x="49339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D0BFA2-3C65-4A22-97B1-EF0D0550FFD2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432616-99C4-4B5C-BDC8-29867E9E8F13}"/>
              </a:ext>
            </a:extLst>
          </p:cNvPr>
          <p:cNvSpPr>
            <a:spLocks noGrp="1"/>
          </p:cNvSpPr>
          <p:nvPr/>
        </p:nvSpPr>
        <p:spPr>
          <a:xfrm>
            <a:off x="50863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Proof first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EF526-48EA-49B9-9353-BE57943889AF}"/>
              </a:ext>
            </a:extLst>
          </p:cNvPr>
          <p:cNvSpPr>
            <a:spLocks noGrp="1"/>
          </p:cNvSpPr>
          <p:nvPr/>
        </p:nvSpPr>
        <p:spPr>
          <a:xfrm>
            <a:off x="50863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Require validation before merge or demo claims.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560B1-3C28-4339-A1A9-73A9156D2021}"/>
              </a:ext>
            </a:extLst>
          </p:cNvPr>
          <p:cNvSpPr>
            <a:spLocks noGrp="1"/>
          </p:cNvSpPr>
          <p:nvPr/>
        </p:nvSpPr>
        <p:spPr>
          <a:xfrm>
            <a:off x="697230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09B6C9-6583-47C4-AA78-6403AAFBCA80}"/>
              </a:ext>
            </a:extLst>
          </p:cNvPr>
          <p:cNvSpPr>
            <a:spLocks noGrp="1"/>
          </p:cNvSpPr>
          <p:nvPr/>
        </p:nvSpPr>
        <p:spPr>
          <a:xfrm>
            <a:off x="720090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23C7E7-B157-4273-A01A-800A75A74044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09DA82-6C70-4E07-8491-D5382D9270A3}"/>
              </a:ext>
            </a:extLst>
          </p:cNvPr>
          <p:cNvSpPr>
            <a:spLocks noGrp="1"/>
          </p:cNvSpPr>
          <p:nvPr/>
        </p:nvSpPr>
        <p:spPr>
          <a:xfrm>
            <a:off x="735330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Write 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80F24-72F8-4D9E-BF71-A60DFA102261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Turn hard-won fixes into runbooks or skills.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4F837B-D569-443B-8A97-5412F4506746}"/>
              </a:ext>
            </a:extLst>
          </p:cNvPr>
          <p:cNvSpPr>
            <a:spLocks noGrp="1"/>
          </p:cNvSpPr>
          <p:nvPr/>
        </p:nvSpPr>
        <p:spPr>
          <a:xfrm>
            <a:off x="9239250" y="3048000"/>
            <a:ext cx="1905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9A6CCB-766A-428B-8498-BB6E438498CC}"/>
              </a:ext>
            </a:extLst>
          </p:cNvPr>
          <p:cNvSpPr>
            <a:spLocks noGrp="1"/>
          </p:cNvSpPr>
          <p:nvPr/>
        </p:nvSpPr>
        <p:spPr>
          <a:xfrm>
            <a:off x="9467850" y="2362200"/>
            <a:ext cx="2000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73C435-A90B-497C-8DDB-779976ADF28F}"/>
              </a:ext>
            </a:extLst>
          </p:cNvPr>
          <p:cNvSpPr>
            <a:spLocks noGrp="1"/>
          </p:cNvSpPr>
          <p:nvPr/>
        </p:nvSpPr>
        <p:spPr>
          <a:xfrm>
            <a:off x="9620250" y="25146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F6D733-DA80-4FDC-8316-8B72EAFDE854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482983-1AED-4AC6-8B47-701136BC98E5}"/>
              </a:ext>
            </a:extLst>
          </p:cNvPr>
          <p:cNvSpPr>
            <a:spLocks noGrp="1"/>
          </p:cNvSpPr>
          <p:nvPr/>
        </p:nvSpPr>
        <p:spPr>
          <a:xfrm>
            <a:off x="9620250" y="35433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Humans accept risk, hardware actions, and final design.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0F8FC6-22EE-45F0-918D-DB859EE780AB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The compounding gain is not one impressive answer. It is a repo that teaches the next agent and the next teammate what already works.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C32340-D2ED-4B76-AC24-22E952E7B289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2E15E9-BEAC-4E06-A4EC-AEE49A4921C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Neutron 2 AI agent workflow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49E6C8-3F06-482E-8816-619CD0D00C42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12606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Macintosh PowerPoint</Application>
  <DocSecurity>0</DocSecurity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Dennis Sarsozo</cp:lastModifiedBy>
  <cp:revision>1</cp:revision>
  <dcterms:created xsi:type="dcterms:W3CDTF">2026-07-07T02:37:52Z</dcterms:created>
  <dcterms:modified xsi:type="dcterms:W3CDTF">2026-07-07T02:54:40Z</dcterms:modified>
</cp:coreProperties>
</file>